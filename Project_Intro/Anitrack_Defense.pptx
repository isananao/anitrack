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586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49725" y="1280160"/>
            <a:ext cx="4444550" cy="21390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400"/>
              </a:spcAft>
              <a:defRPr sz="4400" b="1">
                <a:solidFill>
                  <a:srgbClr val="38BDF8"/>
                </a:solidFill>
              </a:defRPr>
            </a:pPr>
            <a:r>
              <a:rPr dirty="0" err="1"/>
              <a:t>Anitrack</a:t>
            </a:r>
            <a:endParaRPr dirty="0"/>
          </a:p>
          <a:p>
            <a:pPr algn="ctr"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rPr dirty="0"/>
              <a:t>Personal Anime Watchlist &amp; Analytics</a:t>
            </a:r>
          </a:p>
          <a:p>
            <a:pPr algn="ctr">
              <a:spcAft>
                <a:spcPts val="1400"/>
              </a:spcAft>
              <a:defRPr sz="1600">
                <a:solidFill>
                  <a:srgbClr val="94A3B8"/>
                </a:solidFill>
              </a:defRPr>
            </a:pPr>
            <a:r>
              <a:rPr dirty="0"/>
              <a:t>Web Technologies I · HSBI · May 2026</a:t>
            </a:r>
          </a:p>
          <a:p>
            <a:pPr algn="ctr">
              <a:spcAft>
                <a:spcPts val="1400"/>
              </a:spcAft>
              <a:defRPr sz="1600">
                <a:solidFill>
                  <a:srgbClr val="94A3B8"/>
                </a:solidFill>
              </a:defRPr>
            </a:pPr>
            <a:r>
              <a:rPr lang="en-US" altLang="zh-CN" sz="1600" dirty="0" err="1"/>
              <a:t>Dengfeng</a:t>
            </a:r>
            <a:r>
              <a:rPr lang="en-US" altLang="zh-CN" sz="1600" dirty="0"/>
              <a:t> Qiao </a:t>
            </a:r>
            <a:r>
              <a:rPr dirty="0"/>
              <a:t>· </a:t>
            </a:r>
            <a:r>
              <a:rPr lang="en-US" altLang="zh-CN" sz="1600" dirty="0"/>
              <a:t>Yurun Zhu </a:t>
            </a:r>
            <a:r>
              <a:rPr dirty="0"/>
              <a:t>· </a:t>
            </a:r>
            <a:r>
              <a:rPr lang="en-US" altLang="zh-CN" sz="1600" dirty="0" err="1"/>
              <a:t>Zhaoze</a:t>
            </a:r>
            <a:r>
              <a:rPr lang="en-US" altLang="zh-CN" sz="1600" dirty="0"/>
              <a:t> Yu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</a:defRPr>
            </a:pPr>
            <a:r>
              <a:t>Team &amp; responsibilities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7338227"/>
              </p:ext>
            </p:extLst>
          </p:nvPr>
        </p:nvGraphicFramePr>
        <p:xfrm>
          <a:off x="457200" y="1188720"/>
          <a:ext cx="8229600" cy="153619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8FAFC"/>
                          </a:solidFill>
                        </a:defRPr>
                      </a:pPr>
                      <a:r>
                        <a:rPr>
                          <a:solidFill>
                            <a:sysClr val="windowText" lastClr="000000"/>
                          </a:solidFill>
                        </a:rPr>
                        <a:t>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8FAFC"/>
                          </a:solidFill>
                        </a:defRPr>
                      </a:pPr>
                      <a:r>
                        <a:rPr dirty="0">
                          <a:solidFill>
                            <a:sysClr val="windowText" lastClr="000000"/>
                          </a:solidFill>
                        </a:rPr>
                        <a:t>Main focus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rPr lang="en-US" altLang="zh-CN" sz="13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Dengfeng</a:t>
                      </a:r>
                      <a:r>
                        <a:rPr lang="en-US" altLang="zh-CN" sz="13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Qiao</a:t>
                      </a:r>
                      <a:endParaRPr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rPr>
                          <a:solidFill>
                            <a:sysClr val="windowText" lastClr="000000"/>
                          </a:solidFill>
                        </a:rPr>
                        <a:t>Frontend — Next.js, UI, i18n, responsive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rPr lang="en-US" altLang="zh-CN" sz="13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Yurun Zhu</a:t>
                      </a:r>
                      <a:endParaRPr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rPr>
                          <a:solidFill>
                            <a:sysClr val="windowText" lastClr="000000"/>
                          </a:solidFill>
                        </a:rPr>
                        <a:t>Backend — NestJS, MongoDB, Bee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rPr lang="en-US" altLang="zh-CN" sz="13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Zhaoze</a:t>
                      </a:r>
                      <a:r>
                        <a:rPr lang="en-US" altLang="zh-CN" sz="13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Yu</a:t>
                      </a:r>
                      <a:endParaRPr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rPr dirty="0">
                          <a:solidFill>
                            <a:sysClr val="windowText" lastClr="000000"/>
                          </a:solidFill>
                        </a:rPr>
                        <a:t>API contract, tests, live demo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</a:defRPr>
            </a:pPr>
            <a:r>
              <a:t>Problem &amp;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Track anime: Planned → Watching → Completed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Monthly heatmap (GitHub-style)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Seasonal timetable &amp; dashboard picks (local mirror)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API-first full-stack for course requirements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</a:defRPr>
            </a:pPr>
            <a:r>
              <a:t>Course requirements ↔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4A3B8"/>
                </a:solidFill>
              </a:defRPr>
            </a:pPr>
            <a:r>
              <a:t>Content requirements: implemented. Organizational requirements: fulfilled in this presentation.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0517803"/>
              </p:ext>
            </p:extLst>
          </p:nvPr>
        </p:nvGraphicFramePr>
        <p:xfrm>
          <a:off x="457200" y="1325880"/>
          <a:ext cx="8229600" cy="268833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8FAFC"/>
                          </a:solidFill>
                        </a:defRPr>
                      </a:pPr>
                      <a:r>
                        <a:rPr dirty="0">
                          <a:solidFill>
                            <a:sysClr val="windowText" lastClr="000000"/>
                          </a:solidFill>
                        </a:rPr>
                        <a:t>Requirement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8FAFC"/>
                          </a:solidFill>
                        </a:defRPr>
                      </a:pPr>
                      <a:r>
                        <a:rPr>
                          <a:solidFill>
                            <a:sysClr val="windowText" lastClr="000000"/>
                          </a:solidFill>
                        </a:rPr>
                        <a:t>Anitrack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rPr>
                          <a:solidFill>
                            <a:sysClr val="windowText" lastClr="000000"/>
                          </a:solidFill>
                        </a:rPr>
                        <a:t>NestJS 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rPr>
                          <a:solidFill>
                            <a:sysClr val="windowText" lastClr="000000"/>
                          </a:solidFill>
                        </a:rPr>
                        <a:t>anitrack-backend :3001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rPr>
                          <a:solidFill>
                            <a:sysClr val="windowText" lastClr="000000"/>
                          </a:solidFill>
                        </a:rPr>
                        <a:t>CRUD HTTP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rPr>
                          <a:solidFill>
                            <a:sysClr val="windowText" lastClr="000000"/>
                          </a:solidFill>
                        </a:rPr>
                        <a:t>/api/anime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rPr>
                          <a:solidFill>
                            <a:sysClr val="windowText" lastClr="000000"/>
                          </a:solidFill>
                        </a:rPr>
                        <a:t>API 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rPr dirty="0" err="1">
                          <a:solidFill>
                            <a:sysClr val="windowText" lastClr="000000"/>
                          </a:solidFill>
                        </a:rPr>
                        <a:t>swagger.json</a:t>
                      </a:r>
                      <a:r>
                        <a:rPr dirty="0">
                          <a:solidFill>
                            <a:sysClr val="windowText" lastClr="000000"/>
                          </a:solidFill>
                        </a:rPr>
                        <a:t>, /</a:t>
                      </a:r>
                      <a:r>
                        <a:rPr dirty="0" err="1">
                          <a:solidFill>
                            <a:sysClr val="windowText" lastClr="000000"/>
                          </a:solidFill>
                        </a:rPr>
                        <a:t>api</a:t>
                      </a:r>
                      <a:r>
                        <a:rPr dirty="0">
                          <a:solidFill>
                            <a:sysClr val="windowText" lastClr="000000"/>
                          </a:solidFill>
                        </a:rPr>
                        <a:t>-docs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rPr>
                          <a:solidFill>
                            <a:sysClr val="windowText" lastClr="000000"/>
                          </a:solidFill>
                        </a:rPr>
                        <a:t>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rPr>
                          <a:solidFill>
                            <a:sysClr val="windowText" lastClr="000000"/>
                          </a:solidFill>
                        </a:rPr>
                        <a:t>Jest, Vitest, contract-validator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rPr>
                          <a:solidFill>
                            <a:sysClr val="windowText" lastClr="000000"/>
                          </a:solidFill>
                        </a:rPr>
                        <a:t>Thin 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rPr>
                          <a:solidFill>
                            <a:sysClr val="windowText" lastClr="000000"/>
                          </a:solidFill>
                        </a:rPr>
                        <a:t>Logic in backend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rPr>
                          <a:solidFill>
                            <a:sysClr val="windowText" lastClr="000000"/>
                          </a:solidFill>
                        </a:rPr>
                        <a:t>Responsive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rPr dirty="0">
                          <a:solidFill>
                            <a:sysClr val="windowText" lastClr="000000"/>
                          </a:solidFill>
                        </a:rPr>
                        <a:t>Mobile + desktop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25769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94A3B8"/>
                </a:solidFill>
              </a:defRPr>
            </a:pPr>
            <a:r>
              <a:rPr dirty="0"/>
              <a:t>Frontend · Backend · MongoDB · Jikan · </a:t>
            </a:r>
            <a:r>
              <a:rPr dirty="0" err="1"/>
              <a:t>Bangumi</a:t>
            </a:r>
            <a:endParaRPr dirty="0"/>
          </a:p>
        </p:txBody>
      </p:sp>
      <p:pic>
        <p:nvPicPr>
          <p:cNvPr id="4" name="Picture 3" descr="tech-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6059" y="436581"/>
            <a:ext cx="5280671" cy="42703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2185855" cy="11695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A3B8"/>
                </a:solidFill>
              </a:defRPr>
            </a:pPr>
            <a:r>
              <a:rPr dirty="0"/>
              <a:t>Bee mirrors Jikan/</a:t>
            </a:r>
            <a:r>
              <a:rPr dirty="0" err="1"/>
              <a:t>Bangumi</a:t>
            </a:r>
            <a:r>
              <a:rPr dirty="0"/>
              <a:t> </a:t>
            </a:r>
            <a:endParaRPr lang="en-US" dirty="0"/>
          </a:p>
          <a:p>
            <a:pPr>
              <a:defRPr sz="1400" i="1">
                <a:solidFill>
                  <a:srgbClr val="94A3B8"/>
                </a:solidFill>
              </a:defRPr>
            </a:pPr>
            <a:r>
              <a:rPr lang="zh-CN" altLang="en-US" dirty="0"/>
              <a:t>↓</a:t>
            </a:r>
            <a:endParaRPr lang="en-US" dirty="0"/>
          </a:p>
          <a:p>
            <a:pPr>
              <a:defRPr sz="1400" i="1">
                <a:solidFill>
                  <a:srgbClr val="94A3B8"/>
                </a:solidFill>
              </a:defRPr>
            </a:pPr>
            <a:r>
              <a:rPr dirty="0"/>
              <a:t>MongoDB; client </a:t>
            </a:r>
            <a:endParaRPr lang="en-US" dirty="0"/>
          </a:p>
          <a:p>
            <a:pPr>
              <a:defRPr sz="1400" i="1">
                <a:solidFill>
                  <a:srgbClr val="94A3B8"/>
                </a:solidFill>
              </a:defRPr>
            </a:pPr>
            <a:r>
              <a:rPr lang="zh-CN" altLang="en-US" dirty="0"/>
              <a:t>↓</a:t>
            </a:r>
            <a:endParaRPr lang="en-US" altLang="zh-CN" dirty="0"/>
          </a:p>
          <a:p>
            <a:pPr>
              <a:defRPr sz="1400" i="1">
                <a:solidFill>
                  <a:srgbClr val="94A3B8"/>
                </a:solidFill>
              </a:defRPr>
            </a:pPr>
            <a:r>
              <a:rPr dirty="0" err="1"/>
              <a:t>NestJS</a:t>
            </a:r>
            <a:r>
              <a:rPr dirty="0"/>
              <a:t> API only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5527" y="320040"/>
            <a:ext cx="4778432" cy="46016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</a:defRPr>
            </a:pPr>
            <a:r>
              <a:t>API-first &amp; OpenAPI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804672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E2E8F0"/>
                </a:solidFill>
              </a:defRPr>
            </a:pPr>
            <a:r>
              <a:rPr sz="1600" dirty="0"/>
              <a:t>Swagger UI: http://localhost:3001/api-docs</a:t>
            </a:r>
          </a:p>
          <a:p>
            <a:pPr>
              <a:spcAft>
                <a:spcPts val="1000"/>
              </a:spcAft>
              <a:defRPr sz="1700">
                <a:solidFill>
                  <a:srgbClr val="E2E8F0"/>
                </a:solidFill>
              </a:defRPr>
            </a:pPr>
            <a:r>
              <a:rPr sz="1600" dirty="0"/>
              <a:t>Contract: </a:t>
            </a:r>
            <a:r>
              <a:rPr sz="1600" dirty="0" err="1"/>
              <a:t>anitrack</a:t>
            </a:r>
            <a:r>
              <a:rPr sz="1600" dirty="0"/>
              <a:t>-backend/</a:t>
            </a:r>
            <a:r>
              <a:rPr sz="1600" dirty="0" err="1"/>
              <a:t>swagger.json</a:t>
            </a:r>
            <a:endParaRPr sz="1600" dirty="0"/>
          </a:p>
          <a:p>
            <a:pPr>
              <a:spcAft>
                <a:spcPts val="1000"/>
              </a:spcAft>
              <a:defRPr sz="1700">
                <a:solidFill>
                  <a:srgbClr val="E2E8F0"/>
                </a:solidFill>
              </a:defRPr>
            </a:pPr>
            <a:r>
              <a:rPr sz="1600" dirty="0"/>
              <a:t>Same API for UI + script clients (</a:t>
            </a:r>
            <a:r>
              <a:rPr sz="1600" dirty="0" err="1"/>
              <a:t>anitrack</a:t>
            </a:r>
            <a:r>
              <a:rPr sz="1600" dirty="0"/>
              <a:t>-tester)</a:t>
            </a:r>
          </a:p>
          <a:p>
            <a:pPr>
              <a:spcAft>
                <a:spcPts val="1000"/>
              </a:spcAft>
              <a:defRPr sz="1700">
                <a:solidFill>
                  <a:srgbClr val="E2E8F0"/>
                </a:solidFill>
              </a:defRPr>
            </a:pPr>
            <a:r>
              <a:rPr sz="1600" dirty="0"/>
              <a:t>Errors: { error: { code, message, details } }</a:t>
            </a:r>
          </a:p>
        </p:txBody>
      </p:sp>
      <p:sp>
        <p:nvSpPr>
          <p:cNvPr id="4" name="Rectangle 3"/>
          <p:cNvSpPr/>
          <p:nvPr/>
        </p:nvSpPr>
        <p:spPr>
          <a:xfrm>
            <a:off x="879762" y="2611271"/>
            <a:ext cx="7191895" cy="2419659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rPr dirty="0"/>
              <a:t>screenshot:</a:t>
            </a:r>
            <a:br>
              <a:rPr dirty="0"/>
            </a:br>
            <a:r>
              <a:rPr dirty="0"/>
              <a:t>localhost:3001/</a:t>
            </a:r>
            <a:r>
              <a:rPr dirty="0" err="1"/>
              <a:t>api</a:t>
            </a:r>
            <a:r>
              <a:rPr dirty="0"/>
              <a:t>-docs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D58ACD3-8FE3-B325-AC20-156B7162B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9945" y="2694396"/>
            <a:ext cx="4254039" cy="22821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</a:defRPr>
            </a:pPr>
            <a:r>
              <a:t>User 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A3B8"/>
                </a:solidFill>
              </a:defRPr>
            </a:pPr>
            <a:r>
              <a:rPr dirty="0"/>
              <a:t>Dashboard · Timetable · Library · Profile</a:t>
            </a:r>
          </a:p>
        </p:txBody>
      </p:sp>
      <p:pic>
        <p:nvPicPr>
          <p:cNvPr id="4" name="Picture 3" descr="user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255" y="1371600"/>
            <a:ext cx="7411489" cy="36112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</a:defRPr>
            </a:pPr>
            <a:r>
              <a:t>Data flow &amp; caching</a:t>
            </a:r>
          </a:p>
        </p:txBody>
      </p:sp>
      <p:pic>
        <p:nvPicPr>
          <p:cNvPr id="3" name="Picture 2" descr="data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0" y="1143000"/>
            <a:ext cx="5307676" cy="3566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23444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E2E8F0"/>
                </a:solidFill>
              </a:defRPr>
            </a:pPr>
            <a:r>
              <a:t>Cache-aside AnimeMeta by malId</a:t>
            </a:r>
          </a:p>
          <a:p>
            <a:pPr>
              <a:spcAft>
                <a:spcPts val="1000"/>
              </a:spcAft>
              <a:defRPr sz="1700">
                <a:solidFill>
                  <a:srgbClr val="E2E8F0"/>
                </a:solidFill>
              </a:defRPr>
            </a:pPr>
            <a:r>
              <a:t>User progress → AnimeEntry</a:t>
            </a:r>
          </a:p>
          <a:p>
            <a:pPr>
              <a:spcAft>
                <a:spcPts val="1000"/>
              </a:spcAft>
              <a:defRPr sz="1700">
                <a:solidFill>
                  <a:srgbClr val="E2E8F0"/>
                </a:solidFill>
              </a:defRPr>
            </a:pPr>
            <a:r>
              <a:t>Bee → AnimeMirror for timetable / seasonal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</a:defRPr>
            </a:pPr>
            <a:r>
              <a:t>Backend business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State machine → illegal status = HTTP 409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Heatmap aggregation on server (intensity 0–4)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Bee: 65s / 3 requests, Bangumi mapping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No business rules in React frontend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</a:defRPr>
            </a:pPr>
            <a:r>
              <a:t>Testing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Unit: heatmap mapping (Vitest)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Integration: API + MongoDB (Jest, Vitest)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Contract: OpenAPI vs runtime (anitrack-tester)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</a:defRPr>
            </a:pPr>
            <a:r>
              <a:t>Responsive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046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E2E8F0"/>
                </a:solidFill>
              </a:defRPr>
            </a:pPr>
            <a:r>
              <a:rPr sz="1400" dirty="0"/>
              <a:t>Hamburger navigation · date strip ±2 weeks · heatmap scroll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600199"/>
            <a:ext cx="2067098" cy="3365221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94A3B8"/>
                </a:solidFill>
              </a:defRPr>
            </a:pP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2733503" y="1600199"/>
            <a:ext cx="5861857" cy="3365221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94A3B8"/>
                </a:solidFill>
              </a:defRPr>
            </a:pPr>
            <a:endParaRPr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FF05841-030D-5D7D-091D-3360639B27F6}"/>
              </a:ext>
            </a:extLst>
          </p:cNvPr>
          <p:cNvSpPr txBox="1"/>
          <p:nvPr/>
        </p:nvSpPr>
        <p:spPr>
          <a:xfrm>
            <a:off x="703566" y="4567911"/>
            <a:ext cx="17054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Mobile / narrow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C408BCA-5566-9B2F-B11B-EC13A91BD614}"/>
              </a:ext>
            </a:extLst>
          </p:cNvPr>
          <p:cNvSpPr txBox="1"/>
          <p:nvPr/>
        </p:nvSpPr>
        <p:spPr>
          <a:xfrm>
            <a:off x="4827616" y="4596089"/>
            <a:ext cx="16085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Desktop / wide</a:t>
            </a:r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0C96F88-A742-2E16-AC5C-2089D593F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272" y="1835387"/>
            <a:ext cx="5370018" cy="271018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2BDD43A-2415-11B6-FE8F-9073FDFC4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710" y="1834634"/>
            <a:ext cx="1533204" cy="27051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</a:defRPr>
            </a:pPr>
            <a:r>
              <a:t>Live demo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1. Dashboard — watching &amp; seasonal picks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2. Library — search → add to watchlist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3. Profile — heatmap → month activity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4. (Optional) Timetable — pick date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Before demo: backend :3001, frontend :3000, UI = English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38BDF8"/>
                </a:solidFill>
              </a:defRPr>
            </a:pPr>
            <a:r>
              <a:rPr dirty="0"/>
              <a:t>Live Demo</a:t>
            </a:r>
          </a:p>
          <a:p>
            <a:pPr algn="ctr">
              <a:defRPr sz="2200">
                <a:solidFill>
                  <a:srgbClr val="F8FAFC"/>
                </a:solidFill>
              </a:defRPr>
            </a:pPr>
            <a:r>
              <a:rPr dirty="0"/>
              <a:t>http://localhost:3000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rPr dirty="0"/>
              <a:t>(Switch to browser — no further slides during demo)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</a:defRPr>
            </a:pPr>
            <a:r>
              <a:t>Limitations &amp;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Timetable air times sometimes TBD (upstream data)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Single user (TEMP_USER_ID) — no auth yet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Future: multi-user, recommendations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Course core scope is complete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7315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8FAFC"/>
                </a:solidFill>
              </a:defRPr>
            </a:pPr>
            <a:r>
              <a:t>Thank you for your attention.</a:t>
            </a:r>
          </a:p>
          <a:p>
            <a:pPr algn="ctr">
              <a:defRPr sz="2800">
                <a:solidFill>
                  <a:srgbClr val="38BDF8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440</Words>
  <Application>Microsoft Office PowerPoint</Application>
  <PresentationFormat>全屏显示(16:9)</PresentationFormat>
  <Paragraphs>84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钰润 朱</cp:lastModifiedBy>
  <cp:revision>7</cp:revision>
  <dcterms:created xsi:type="dcterms:W3CDTF">2013-01-27T09:14:16Z</dcterms:created>
  <dcterms:modified xsi:type="dcterms:W3CDTF">2026-06-03T12:48:36Z</dcterms:modified>
  <cp:category/>
</cp:coreProperties>
</file>